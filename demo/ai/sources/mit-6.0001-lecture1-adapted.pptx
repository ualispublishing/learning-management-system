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ca56c285a74c56" /><Relationship Type="http://schemas.openxmlformats.org/officeDocument/2006/relationships/extended-properties" Target="/docProps/app.xml" Id="Re18932a9f38f42c3" /><Relationship Type="http://schemas.openxmlformats.org/officeDocument/2006/relationships/officeDocument" Target="/ppt/presentation.xml" Id="R05bf926e163345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bfcafa398449c8"/>
  </p:sldMasterIdLst>
  <p:notesMasterIdLst>
    <p:notesMasterId xmlns:r="http://schemas.openxmlformats.org/officeDocument/2006/relationships" r:id="R8a93ae3dde1d4bfd"/>
  </p:notesMasterIdLst>
  <p:sldIdLst>
    <p:sldId xmlns:r="http://schemas.openxmlformats.org/officeDocument/2006/relationships" id="256" r:id="Rdb2bb35196a742b0"/>
    <p:sldId xmlns:r="http://schemas.openxmlformats.org/officeDocument/2006/relationships" id="257" r:id="R08348f036c374e12"/>
    <p:sldId xmlns:r="http://schemas.openxmlformats.org/officeDocument/2006/relationships" id="258" r:id="R2ce1de4b26ab4caf"/>
    <p:sldId xmlns:r="http://schemas.openxmlformats.org/officeDocument/2006/relationships" id="259" r:id="Ra1c99c2a279b4b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c7220cedc54123" /><Relationship Type="http://schemas.openxmlformats.org/officeDocument/2006/relationships/slideMaster" Target="/ppt/slideMasters/slideMaster1.xml" Id="Rd3bfcafa398449c8" /><Relationship Type="http://schemas.openxmlformats.org/officeDocument/2006/relationships/notesMaster" Target="/ppt/notesMasters/notesMaster1.xml" Id="R8a93ae3dde1d4bfd" /><Relationship Type="http://schemas.openxmlformats.org/officeDocument/2006/relationships/presProps" Target="/ppt/presProps.xml" Id="R58e651b4b66542b2" /><Relationship Type="http://schemas.openxmlformats.org/officeDocument/2006/relationships/tableStyles" Target="/ppt/tableStyles.xml" Id="Ra7ef25d32f964db9" /><Relationship Type="http://schemas.openxmlformats.org/officeDocument/2006/relationships/slide" Target="/ppt/slides/slide1.xml" Id="Rdb2bb35196a742b0" /><Relationship Type="http://schemas.openxmlformats.org/officeDocument/2006/relationships/slide" Target="/ppt/slides/slide2.xml" Id="R08348f036c374e12" /><Relationship Type="http://schemas.openxmlformats.org/officeDocument/2006/relationships/slide" Target="/ppt/slides/slide3.xml" Id="R2ce1de4b26ab4caf" /><Relationship Type="http://schemas.openxmlformats.org/officeDocument/2006/relationships/slide" Target="/ppt/slides/slide4.xml" Id="Ra1c99c2a279b4b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f0e5a4c0c743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5db44012124e8f" /><Relationship Type="http://schemas.openxmlformats.org/officeDocument/2006/relationships/notesMaster" Target="/ppt/notesMasters/notesMaster1.xml" Id="R14c89bc070ed4b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218eca6e88438e" /><Relationship Type="http://schemas.openxmlformats.org/officeDocument/2006/relationships/notesMaster" Target="/ppt/notesMasters/notesMaster1.xml" Id="Rb6f7dc8a17834a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fc5d0889e14f9c" /><Relationship Type="http://schemas.openxmlformats.org/officeDocument/2006/relationships/notesMaster" Target="/ppt/notesMasters/notesMaster1.xml" Id="R748e82967c034f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308ccec0f049ab" /><Relationship Type="http://schemas.openxmlformats.org/officeDocument/2006/relationships/notesMaster" Target="/ppt/notesMasters/notesMaster1.xml" Id="Rf2f7885c4e8b48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MIT OpenCourseWare, Ana Bell, Eric Grimson, John Guttag, 6.0001 Fall 2016. Adaptation prepared with Codex, 2026-10-01; CC BY-NC-SA 4.0 https://creativecommons.org/licenses/by-nc-sa/4.0/ . No MIT endorsement.</a:t>
            </a:r>
          </a:p>
          <a:p xmlns:a="http://schemas.openxmlformats.org/drawingml/2006/main">
            <a:r>
              <a:t>Adapted from original lecture slide 10. Explanatory callout paraphrases the contrast.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MIT OpenCourseWare, Ana Bell, Eric Grimson, John Guttag, 6.0001 Fall 2016. Adaptation prepared with Codex, 2026-10-01; CC BY-NC-SA 4.0 https://creativecommons.org/licenses/by-nc-sa/4.0/ . No MIT endorsement.</a:t>
            </a:r>
          </a:p>
          <a:p xmlns:a="http://schemas.openxmlformats.org/drawingml/2006/main">
            <a:r>
              <a:t>Adapted from original lecture slide 11. “Close enough” is a stopping tolerance; the lecture does not prescribe one universal tolerance.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MIT OpenCourseWare, Ana Bell, Eric Grimson, John Guttag, 6.0001 Fall 2016. Adaptation prepared with Codex, 2026-10-01; CC BY-NC-SA 4.0 https://creativecommons.org/licenses/by-nc-sa/4.0/ . No MIT endorsement.</a:t>
            </a:r>
          </a:p>
          <a:p xmlns:a="http://schemas.openxmlformats.org/drawingml/2006/main">
            <a:r>
              <a:t>Adapted from original lecture slide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MIT OpenCourseWare, Ana Bell, Eric Grimson, John Guttag, 6.0001 Fall 2016. Adaptation prepared with Codex, 2026-10-01; CC BY-NC-SA 4.0 https://creativecommons.org/licenses/by-nc-sa/4.0/ . No MIT endorsement.</a:t>
            </a:r>
          </a:p>
          <a:p xmlns:a="http://schemas.openxmlformats.org/drawingml/2006/main">
            <a:r>
              <a:t>Source: https://ocw.mit.edu/courses/6-0001-introduction-to-computer-science-and-programming-in-python-fall-2016/resources/mit6_0001f16_lec1/ . Licence: https://creativecommons.org/licenses/by-nc-sa/4.0/ . This adaptation is distributed under the same CC BY-NC-SA 4.0 licence.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91536d5a964b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ac05f15c454f23" /><Relationship Type="http://schemas.openxmlformats.org/officeDocument/2006/relationships/slideLayout" Target="/ppt/slideLayouts/slideLayout1.xml" Id="R738d4800120e42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8d4800120e42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5923809dc445b" /><Relationship Type="http://schemas.openxmlformats.org/officeDocument/2006/relationships/notesSlide" Target="/ppt/notesSlides/notesSlide1.xml" Id="Ref806c26b1354f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130e5c6da4191" /><Relationship Type="http://schemas.openxmlformats.org/officeDocument/2006/relationships/notesSlide" Target="/ppt/notesSlides/notesSlide2.xml" Id="R57fdceb394f440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67692524e48e3" /><Relationship Type="http://schemas.openxmlformats.org/officeDocument/2006/relationships/notesSlide" Target="/ppt/notesSlides/notesSlide3.xml" Id="R71b0a27d8b404a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7f93bf4594bd8" /><Relationship Type="http://schemas.openxmlformats.org/officeDocument/2006/relationships/notesSlide" Target="/ppt/notesSlides/notesSlide4.xml" Id="Rfd06990b107443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553FC-310E-43CE-B68D-EA30C0F4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D35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D3557"/>
                </a:solidFill>
                <a:latin typeface="Helvetica Neue"/>
                <a:ea typeface="Helvetica Neue"/>
                <a:cs typeface="Helvetica Neue"/>
              </a:rPr>
              <a:t>Statements and instructions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0C4A4-D5C4-4131-9645-2CCE0370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Declarative knowledge is statements of fact.</a:t>
            </a:r>
          </a:p>
          <a:p xmlns:a="http://schemas.openxmlformats.org/drawingml/2006/main">
            <a:pPr>
              <a:def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Imperative knowledge is a recipe or “how-to”.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5B583-4BCD-4D95-8F2D-B95EC882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5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4459B-6E53-44D0-8B22-BC060A34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fact describes what is true.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recipe specifies steps to follow.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79DFC-4EFA-4C7E-A8E2-271DA46E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MIT OCW 6.0001 / Lecture 1  /  1</a:t>
            </a:r>
          </a:p>
        </p:txBody>
      </p:sp>
    </p:spTree>
    <p:extLst>
      <p:ext uri="{BB962C8B-B14F-4D97-AF65-F5344CB8AC3E}">
        <p14:creationId xmlns:p14="http://schemas.microsoft.com/office/powerpoint/2010/main" val="896540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3E4FB-4CC6-4BEB-BBFC-E1D90888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D35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D3557"/>
                </a:solidFill>
                <a:latin typeface="Helvetica Neue"/>
                <a:ea typeface="Helvetica Neue"/>
                <a:cs typeface="Helvetica Neue"/>
              </a:rPr>
              <a:t>A recipe for the square root of 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792BE-7D06-4A72-A451-C9F35D43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1. Start with a guess, g.</a:t>
            </a:r>
          </a:p>
          <a:p xmlns:a="http://schemas.openxmlformats.org/drawingml/2006/main">
            <a:pPr>
              <a:def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2. If g*g is close enough to x, stop and say g is the answer.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61087-51BC-4B0D-B506-9A55679C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5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E8AA3-222D-406B-A54B-E37351D2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3. Otherwise make a new guess by averaging g and x/g.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4. Using the new guess, repeat until close enough.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7EB58-16F2-4D14-ACE9-9431E03B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MIT OCW 6.0001 / Lecture 1  /  2</a:t>
            </a:r>
          </a:p>
        </p:txBody>
      </p:sp>
    </p:spTree>
    <p:extLst>
      <p:ext uri="{BB962C8B-B14F-4D97-AF65-F5344CB8AC3E}">
        <p14:creationId xmlns:p14="http://schemas.microsoft.com/office/powerpoint/2010/main" val="1355579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53C57-F944-4978-8248-B6FACDA9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D35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D3557"/>
                </a:solidFill>
                <a:latin typeface="Helvetica Neue"/>
                <a:ea typeface="Helvetica Neue"/>
                <a:cs typeface="Helvetica Neue"/>
              </a:rPr>
              <a:t>The parts of an algorithm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98F7C-9587-47C4-ADCC-472C842D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A sequence of simple steps.</a:t>
            </a:r>
          </a:p>
          <a:p xmlns:a="http://schemas.openxmlformats.org/drawingml/2006/main">
            <a:pPr>
              <a:def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A flow of control that specifies when each step is executed.</a:t>
            </a:r>
          </a:p>
          <a:p xmlns:a="http://schemas.openxmlformats.org/drawingml/2006/main">
            <a:pPr>
              <a:def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A means of determining when to stop.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19F5A-871A-4C7D-963C-8A974CA7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5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C9CD8-7CD5-438E-B8E8-5964D35E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These three parts form an algorithm.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650C2-BD74-4F13-A1DB-B5409E27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MIT OCW 6.0001 / Lecture 1  /  3</a:t>
            </a:r>
          </a:p>
        </p:txBody>
      </p:sp>
    </p:spTree>
    <p:extLst>
      <p:ext uri="{BB962C8B-B14F-4D97-AF65-F5344CB8AC3E}">
        <p14:creationId xmlns:p14="http://schemas.microsoft.com/office/powerpoint/2010/main" val="8754144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FFF6C-D43E-46C3-9840-E64AFB51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D35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D3557"/>
                </a:solidFill>
                <a:latin typeface="Helvetica Neue"/>
                <a:ea typeface="Helvetica Neue"/>
                <a:cs typeface="Helvetica Neue"/>
              </a:rPr>
              <a:t>Source and licence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44849-F33F-4685-AC69-017BD7A1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MIT OpenCourseWare · 6.0001 · Fall 2016</a:t>
            </a:r>
          </a:p>
          <a:p xmlns:a="http://schemas.openxmlformats.org/drawingml/2006/main">
            <a:pPr>
              <a:def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Ana Bell, Eric Grimson, John Guttag</a:t>
            </a:r>
          </a:p>
          <a:p xmlns:a="http://schemas.openxmlformats.org/drawingml/2006/main">
            <a:pPr>
              <a:def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Lecture 1: What is Computation? · slides 10–12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7DB70-77F8-41C7-9994-740CA308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5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5D17C-EBC6-4DB3-BF06-F6B4FC24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CC BY-NC-SA 4.0 · No MIT endorsement.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Text adapted; layout recreated.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Commercial permission is not included.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8243D-211D-4105-A8F5-DAAEEF34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MIT OCW 6.0001 / Lecture 1  /  4</a:t>
            </a:r>
          </a:p>
        </p:txBody>
      </p:sp>
    </p:spTree>
    <p:extLst>
      <p:ext uri="{BB962C8B-B14F-4D97-AF65-F5344CB8AC3E}">
        <p14:creationId xmlns:p14="http://schemas.microsoft.com/office/powerpoint/2010/main" val="1152247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>
  <dc:title>MIT 6.0001 Lecture 1 - attributed slide adaptation</dc:title>
</cp:coreProperties>
</file>